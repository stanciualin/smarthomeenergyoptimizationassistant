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93" r:id="rId5"/>
    <p:sldId id="298" r:id="rId6"/>
    <p:sldId id="299" r:id="rId7"/>
    <p:sldId id="300" r:id="rId8"/>
    <p:sldId id="301" r:id="rId9"/>
    <p:sldId id="273" r:id="rId10"/>
    <p:sldId id="302" r:id="rId11"/>
    <p:sldId id="297" r:id="rId12"/>
    <p:sldId id="30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StanciuAlin/SmartHomeEnergyOptimizationAssistant/tree/ma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48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Smart Home Energy Optimization Assistant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/>
          </a:bodyPr>
          <a:lstStyle/>
          <a:p>
            <a:pPr>
              <a:defRPr sz="22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Authors</a:t>
            </a:r>
            <a:r>
              <a:rPr lang="en-US" altLang="en-US"/>
              <a:t>: Efrem Ion-</a:t>
            </a:r>
            <a:r>
              <a:rPr lang="" altLang="en-US"/>
              <a:t>Ș</a:t>
            </a:r>
            <a:r>
              <a:rPr lang="en-US" altLang="en-US"/>
              <a:t>tefan  </a:t>
            </a:r>
            <a:endParaRPr lang="en-US" altLang="en-US"/>
          </a:p>
          <a:p>
            <a:pPr>
              <a:defRPr sz="22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Stanciu Alin-Marian  </a:t>
            </a:r>
            <a:endParaRPr lang="en-US" altLang="en-US"/>
          </a:p>
          <a:p>
            <a:pPr>
              <a:defRPr sz="22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Ciocîrlan Marius-Cosmin</a:t>
            </a:r>
            <a:endParaRPr lang="en-US" altLang="en-US"/>
          </a:p>
          <a:p>
            <a:pPr>
              <a:defRPr sz="22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  <a:p>
            <a:pPr>
              <a:defRPr sz="22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i="1"/>
              <a:t>An IoT Ecosystem for Monitoring, Forecasting, and Optimizing Energy Consumption</a:t>
            </a:r>
            <a:endParaRPr lang="en-US" altLang="en-US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Problem Statement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/>
          <a:lstStyle/>
          <a:p>
            <a:pPr marL="0" indent="0" algn="l">
              <a:spcBef>
                <a:spcPts val="100"/>
              </a:spcBef>
              <a:spcAft>
                <a:spcPts val="400"/>
              </a:spcAft>
              <a:buClrTx/>
              <a:buSzTx/>
              <a:buNone/>
              <a:defRPr sz="1600" b="1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sz="1800"/>
              <a:t>The Challenge</a:t>
            </a:r>
            <a:endParaRPr sz="1800"/>
          </a:p>
          <a:p>
            <a:pPr lvl="1" algn="l">
              <a:spcBef>
                <a:spcPts val="100"/>
              </a:spcBef>
              <a:spcAft>
                <a:spcPts val="400"/>
              </a:spcAft>
              <a:buClrTx/>
              <a:buSzTx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Many households lack actionable insights into energy consumption</a:t>
            </a:r>
            <a:endParaRPr lang="en-US" altLang="en-US"/>
          </a:p>
          <a:p>
            <a:pPr lvl="1" algn="l">
              <a:spcBef>
                <a:spcPts val="100"/>
              </a:spcBef>
              <a:spcAft>
                <a:spcPts val="400"/>
              </a:spcAft>
              <a:buClrTx/>
              <a:buSzTx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No appliance-level monitoring capabilities</a:t>
            </a:r>
            <a:endParaRPr lang="en-US" altLang="en-US"/>
          </a:p>
          <a:p>
            <a:pPr lvl="1" algn="l">
              <a:spcBef>
                <a:spcPts val="100"/>
              </a:spcBef>
              <a:spcAft>
                <a:spcPts val="400"/>
              </a:spcAft>
              <a:buClrTx/>
              <a:buSzTx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Reactive rather than proactive energy management</a:t>
            </a:r>
            <a:endParaRPr lang="en-US" altLang="en-US"/>
          </a:p>
          <a:p>
            <a:pPr lvl="1" algn="l">
              <a:spcBef>
                <a:spcPts val="100"/>
              </a:spcBef>
              <a:spcAft>
                <a:spcPts val="400"/>
              </a:spcAft>
              <a:buClrTx/>
              <a:buSzTx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Limited forecasting and optimization tools</a:t>
            </a:r>
            <a:endParaRPr lang="en-US" altLang="en-US"/>
          </a:p>
          <a:p>
            <a:pPr marL="0" indent="0" algn="l">
              <a:spcBef>
                <a:spcPts val="100"/>
              </a:spcBef>
              <a:spcAft>
                <a:spcPts val="400"/>
              </a:spcAft>
              <a:buClrTx/>
              <a:buSzTx/>
              <a:buNone/>
              <a:defRPr sz="1600" b="1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800"/>
              <a:t>Our Solution</a:t>
            </a:r>
            <a:endParaRPr lang="en-US" altLang="en-US" sz="1800"/>
          </a:p>
          <a:p>
            <a:pPr lvl="1" algn="l">
              <a:spcBef>
                <a:spcPts val="100"/>
              </a:spcBef>
              <a:spcAft>
                <a:spcPts val="400"/>
              </a:spcAft>
              <a:buClrTx/>
              <a:buSzTx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Monitor appliance-level energy consumption using smart plugs</a:t>
            </a:r>
            <a:endParaRPr lang="en-US" altLang="en-US"/>
          </a:p>
          <a:p>
            <a:pPr lvl="1" algn="l">
              <a:spcBef>
                <a:spcPts val="100"/>
              </a:spcBef>
              <a:spcAft>
                <a:spcPts val="400"/>
              </a:spcAft>
              <a:buClrTx/>
              <a:buSzTx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Forecast future energy demand using AI</a:t>
            </a:r>
            <a:endParaRPr lang="en-US" altLang="en-US"/>
          </a:p>
          <a:p>
            <a:pPr lvl="1" algn="l">
              <a:spcBef>
                <a:spcPts val="100"/>
              </a:spcBef>
              <a:spcAft>
                <a:spcPts val="400"/>
              </a:spcAft>
              <a:buClrTx/>
              <a:buSzTx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Optimize usage schedules intelligently</a:t>
            </a:r>
            <a:endParaRPr lang="en-US" altLang="en-US"/>
          </a:p>
          <a:p>
            <a:pPr lvl="1" algn="l">
              <a:spcBef>
                <a:spcPts val="100"/>
              </a:spcBef>
              <a:spcAft>
                <a:spcPts val="400"/>
              </a:spcAft>
              <a:buClrTx/>
              <a:buSzTx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Control devices automatically to prevent overloads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System Architecture Overview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 wrap="square" lIns="274320" tIns="137160" rIns="274320" bIns="137160"/>
          <a:lstStyle/>
          <a:p>
            <a:pPr marL="0" indent="0" algn="l">
              <a:spcBef>
                <a:spcPts val="100"/>
              </a:spcBef>
              <a:spcAft>
                <a:spcPts val="400"/>
              </a:spcAft>
              <a:buClrTx/>
              <a:buSzTx/>
              <a:buNone/>
              <a:defRPr sz="1600" b="1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800"/>
              <a:t>End-to-End IoT Pipeline:</a:t>
            </a:r>
            <a:endParaRPr lang="en-US" altLang="en-US" sz="1800"/>
          </a:p>
          <a:p>
            <a:pPr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725" y="1888490"/>
            <a:ext cx="8236585" cy="46647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>
                <a:sym typeface="+mn-ea"/>
              </a:rPr>
              <a:t>Key Components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>
            <a:normAutofit lnSpcReduction="10000"/>
          </a:bodyPr>
          <a:lstStyle/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Hardware/Perception Layer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 i="1"/>
              <a:t>Wokwi ESP32 Simulator</a:t>
            </a:r>
            <a:r>
              <a:rPr lang="en-US" altLang="en-US"/>
              <a:t>: 7 smart plugs (2 hardware-controlled, 5 simulated)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 i="1"/>
              <a:t>Potentiometers</a:t>
            </a:r>
            <a:r>
              <a:rPr lang="en-US" altLang="en-US"/>
              <a:t>: Interactive power consumption control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 i="1"/>
              <a:t>MQTT Communication</a:t>
            </a:r>
            <a:r>
              <a:rPr lang="en-US" altLang="en-US"/>
              <a:t>: TLS-secured connection to HiveMQ Cloud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Data Processing Layer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 i="1"/>
              <a:t>Node-RED</a:t>
            </a:r>
            <a:r>
              <a:rPr lang="en-US" altLang="en-US"/>
              <a:t>: Core logic engine for data orchestration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 i="1"/>
              <a:t>InfluxDB</a:t>
            </a:r>
            <a:r>
              <a:rPr lang="en-US" altLang="en-US" i="1"/>
              <a:t>:</a:t>
            </a:r>
            <a:r>
              <a:rPr lang="en-US" altLang="en-US"/>
              <a:t> Time-series database for historical storage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 i="1"/>
              <a:t>Prophet Service</a:t>
            </a:r>
            <a:r>
              <a:rPr lang="en-US" altLang="en-US"/>
              <a:t>: AI forecasting engine (6-hour predictions)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Visualization Layer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 i="1"/>
              <a:t>Grafana</a:t>
            </a:r>
            <a:r>
              <a:rPr lang="en-US" altLang="en-US" sz="1600"/>
              <a:t>: Interactive dashboards with real-time monitoring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 i="1"/>
              <a:t>Manual Control</a:t>
            </a:r>
            <a:r>
              <a:rPr lang="en-US" altLang="en-US" sz="1600"/>
              <a:t>: ON/OFF device control via HTTP endpoints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 i="1"/>
              <a:t>Forecast Visualization</a:t>
            </a:r>
            <a:r>
              <a:rPr lang="en-US" altLang="en-US" sz="1600"/>
              <a:t>: AI predictions with confidence intervals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Edge/AI Methodology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>
            <a:normAutofit lnSpcReduction="10000"/>
          </a:bodyPr>
          <a:lstStyle/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Edge Layer (Node-RED)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Real-time processing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Predictive protection logic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Automatic threshold monitoring (400W limit)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Immediate control command dispatch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Cloud Layer (Prophet Service)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Historical data analysis (24-hour windows)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Time-series forecasting using Prophet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Pattern recognition (daily/weekly seasonality)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6-hour ahead predictions with confidence intervals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AI Control Logic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 i="1">
                <a:sym typeface="+mn-ea"/>
              </a:rPr>
              <a:t>Proactive Protection</a:t>
            </a:r>
            <a:r>
              <a:rPr lang="en-US" altLang="en-US" sz="1600"/>
              <a:t>: Prevents overloads before they occur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 i="1"/>
              <a:t>Multi-Device Coordination</a:t>
            </a:r>
            <a:r>
              <a:rPr lang="en-US" altLang="en-US" sz="1600"/>
              <a:t>: Independent device evaluation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 i="1"/>
              <a:t>User Override</a:t>
            </a:r>
            <a:r>
              <a:rPr lang="en-US" altLang="en-US" sz="1600"/>
              <a:t>: Manual control available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Implementation/Techincal Stack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>
            <a:normAutofit lnSpcReduction="10000"/>
          </a:bodyPr>
          <a:lstStyle/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Simulation Platform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Wokwi ESP32 with MicroPython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TLS-enabled MQTT communication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JSON data format (Sonoff-compatible)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Backend Services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Docker Compose orchestration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InfluxDB v2.7 (Flux queries)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Node-RED flows for logic processing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Python Prophet service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Data Flow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5-second sampling rate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Real-time dashboard updates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Automated forecast generation (hourly)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Experiments and Results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>
            <a:normAutofit fontScale="90000" lnSpcReduction="10000"/>
          </a:bodyPr>
          <a:lstStyle/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Integration Testing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End-to-end data flow: &lt; 2 seconds latency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MQTT reliability: 100% message delivery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Database performance: low write latency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Forecasting Accuracy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Mean Absolute Error: 15-25W (3-5% of range)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Mean Absolute Percentage Error: 5-10%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Confidence intervals: 80% prediction accuracy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Edge AI Control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100% overload prevention rate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&lt; 5% false positive rate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Response time: &lt; 5 seconds for multi-device alerts</a:t>
            </a:r>
            <a:endParaRPr lang="en-US" altLang="en-US" sz="1600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Scalability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Tested with 7 devices (capacity for 20+)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CPU usage: &lt; 10% average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/>
              <a:t>Memory: ~500MB total (~120 MB per day)</a:t>
            </a: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 sz="16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Key Features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>
            <a:normAutofit lnSpcReduction="10000"/>
          </a:bodyPr>
          <a:lstStyle/>
          <a:p>
            <a:pPr marL="0" algn="l">
              <a:spcBef>
                <a:spcPts val="100"/>
              </a:spcBef>
              <a:spcAft>
                <a:spcPts val="400"/>
              </a:spcAft>
              <a:buClrTx/>
              <a:buSzTx/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Predictive Protection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AI forecasts potential overloads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Automatic shutdown before threshold exceeded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1-2 minutes advance warning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Real-Time Monitoring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Live consumption gauges per device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Historical trend analysis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User Control and Experience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Manual override capabilities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Interactive Grafana dashboard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Alert history and notifications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Reproducibility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Complete Docker containerization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Version-controlled configurations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Clear documentation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Results Visualization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>
            <a:normAutofit fontScale="90000" lnSpcReduction="10000"/>
          </a:bodyPr>
          <a:lstStyle/>
          <a:p>
            <a:pPr marL="0" algn="l">
              <a:spcBef>
                <a:spcPts val="100"/>
              </a:spcBef>
              <a:spcAft>
                <a:spcPts val="400"/>
              </a:spcAft>
              <a:buClrTx/>
              <a:buSzTx/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Real-Time Monitoring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Power consumption gauges (0-500W range)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Voltage and current readings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Energy consumption tracking (kWh)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b="1"/>
              <a:t>AI Forecasts</a:t>
            </a:r>
            <a:endParaRPr lang="en-US" altLang="en-US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6-hour ahead predictions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Upper and lower confidence bounds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Trend visualization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Control Interface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Manual ON/OFF buttons per device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Alert history display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System status indicators</a:t>
            </a:r>
            <a:endParaRPr lang="en-US" altLang="en-US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1600" b="1"/>
              <a:t>Data Analysis</a:t>
            </a:r>
            <a:endParaRPr lang="en-US" altLang="en-US" sz="16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Historical consumption patterns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Device comparison charts</a:t>
            </a:r>
            <a:endParaRPr lang="en-US" altLang="en-US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/>
              <a:t>Peak usage identification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Conclusion and Future Work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>
            <a:normAutofit fontScale="40000"/>
          </a:bodyPr>
          <a:lstStyle/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Achievements</a:t>
            </a:r>
            <a:endParaRPr lang="en-US" altLang="en-US" sz="32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/>
              <a:t>Complete end-to-end IoT system implementation 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/>
              <a:t>Successful integration of edge computing and AI 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/>
              <a:t>Predictive energy management with automated protection 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/>
              <a:t>User-friendly visualization and control interface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/>
              <a:t>Reproducible, containerized deployment</a:t>
            </a:r>
            <a:endParaRPr lang="en-US" altLang="en-US" sz="3200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Future Work:</a:t>
            </a:r>
            <a:endParaRPr lang="en-US" altLang="en-US" sz="32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Full AI Automation</a:t>
            </a:r>
            <a:r>
              <a:rPr lang="en-US" altLang="en-US" sz="3200"/>
              <a:t>: Complete device control based on forecasts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Multi-Home Benchmarking</a:t>
            </a:r>
            <a:r>
              <a:rPr lang="en-US" altLang="en-US" sz="3200"/>
              <a:t>: Compare consumption across households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Solar Integration</a:t>
            </a:r>
            <a:r>
              <a:rPr lang="en-US" altLang="en-US" sz="3200"/>
              <a:t>: Optimize usage based on renewable energy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LSTM Models</a:t>
            </a:r>
            <a:r>
              <a:rPr lang="en-US" altLang="en-US" sz="3200"/>
              <a:t>: Experiment with alternative forecasting approaches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Mobile Application</a:t>
            </a:r>
            <a:r>
              <a:rPr lang="en-US" altLang="en-US" sz="3200"/>
              <a:t>: Remote monitoring and control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Cost Optimization</a:t>
            </a:r>
            <a:r>
              <a:rPr lang="en-US" altLang="en-US" sz="3200"/>
              <a:t>: Integrate electricity pricing data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Reinforcement Learning</a:t>
            </a:r>
            <a:r>
              <a:rPr lang="en-US" altLang="en-US" sz="3200"/>
              <a:t>: Adaptive user preference learning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 sz="3200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73A63"/>
                </a:solidFill>
                <a:latin typeface="Segoe UI" panose="020B0502040204020203"/>
              </a:defRPr>
            </a:pPr>
            <a:r>
              <a:rPr lang="en-US" altLang="en-US"/>
              <a:t>Thank You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lIns="274320" tIns="137160" rIns="274320" bIns="137160">
            <a:normAutofit lnSpcReduction="10000"/>
          </a:bodyPr>
          <a:lstStyle/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Project Repository:</a:t>
            </a:r>
            <a:endParaRPr lang="en-US" altLang="en-US" sz="32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>
                <a:hlinkClick r:id="rId1" tooltip="" action="ppaction://hlinkfile"/>
              </a:rPr>
              <a:t>Github</a:t>
            </a:r>
            <a:r>
              <a:rPr lang="en-US" altLang="en-US" sz="3200"/>
              <a:t> </a:t>
            </a:r>
            <a:endParaRPr lang="en-US" altLang="en-US" sz="3200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 b="1"/>
              <a:t>Contact:</a:t>
            </a:r>
            <a:endParaRPr lang="en-US" altLang="en-US" sz="32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/>
              <a:t> Efrem Ion-</a:t>
            </a:r>
            <a:r>
              <a:rPr lang="" altLang="en-US" sz="3200"/>
              <a:t>Ș</a:t>
            </a:r>
            <a:r>
              <a:rPr lang="en-US" altLang="en-US" sz="3200"/>
              <a:t>tefan</a:t>
            </a:r>
            <a:endParaRPr lang="en-US" altLang="en-US" sz="3200" b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/>
              <a:t> Stanciu Alin-Marian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200"/>
              <a:t> Ciocîrlan Marius-Cosmin</a:t>
            </a:r>
            <a:endParaRPr lang="en-US" altLang="en-US" sz="3200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 sz="3200"/>
          </a:p>
          <a:p>
            <a:pPr marL="0" lv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r>
              <a:rPr lang="en-US" altLang="en-US" sz="3655" i="1"/>
              <a:t>Thank you for your attention!</a:t>
            </a:r>
            <a:endParaRPr lang="en-US" altLang="en-US" sz="3655" i="1"/>
          </a:p>
          <a:p>
            <a:pPr lvl="1">
              <a:spcBef>
                <a:spcPts val="100"/>
              </a:spcBef>
              <a:spcAft>
                <a:spcPts val="400"/>
              </a:spcAft>
              <a:defRPr sz="1600">
                <a:solidFill>
                  <a:srgbClr val="0F2F63"/>
                </a:solidFill>
                <a:latin typeface="Segoe UI" panose="020B0502040204020203"/>
              </a:defRPr>
            </a:pPr>
            <a:endParaRPr lang="en-US" altLang="en-US" sz="3200"/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  <a:defRPr sz="1600">
                <a:solidFill>
                  <a:srgbClr val="0F2F63"/>
                </a:solidFill>
                <a:latin typeface="Segoe UI" panose="020B0502040204020203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4379</Words>
  <Application>WPS Presentation</Application>
  <PresentationFormat>On-screen Show (4:3)</PresentationFormat>
  <Paragraphs>174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Segoe UI</vt:lpstr>
      <vt:lpstr>Microsoft YaHei</vt:lpstr>
      <vt:lpstr>Arial Unicode MS</vt:lpstr>
      <vt:lpstr>Calibri</vt:lpstr>
      <vt:lpstr>Office Theme</vt:lpstr>
      <vt:lpstr>Romanian Grammatical Error Correction using BERT</vt:lpstr>
      <vt:lpstr>Problem Statement</vt:lpstr>
      <vt:lpstr>External Resources</vt:lpstr>
      <vt:lpstr>Inference</vt:lpstr>
      <vt:lpstr>Key Components</vt:lpstr>
      <vt:lpstr>Edge/AI Methodology</vt:lpstr>
      <vt:lpstr>Implementation/Techincal Stack</vt:lpstr>
      <vt:lpstr>Key Contributions</vt:lpstr>
      <vt:lpstr>Key Features</vt:lpstr>
      <vt:lpstr>Conclusion</vt:lpstr>
      <vt:lpstr>Conclusion and Future 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27</cp:revision>
  <dcterms:created xsi:type="dcterms:W3CDTF">2013-01-27T09:14:00Z</dcterms:created>
  <dcterms:modified xsi:type="dcterms:W3CDTF">2026-01-12T10:04:46Z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8A1EF4A9C506401DBF2B558804C35FF3_12</vt:lpwstr>
  </property>
  <property fmtid="{D5CDD505-2E9C-101B-9397-08002B2CF9AE}" pid="3" name="KSOProductBuildVer">
    <vt:lpwstr>1033-12.2.0.23196</vt:lpwstr>
  </property>
</Properties>
</file>